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TIME TABLE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285F4"/>
                </a:solidFill>
              </a:defRPr>
            </a:pPr>
            <a:r>
              <a:t>System Documentation &amp; Technical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DC3C7"/>
                </a:solidFill>
              </a:defRPr>
            </a:pPr>
            <a:r>
              <a:t>Generated: 15-11-2025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/>
            </a:pPr>
            <a:r>
              <a:t>Comprehensive Solution: Manages educational institution schedules efficiently</a:t>
            </a:r>
          </a:p>
          <a:p>
            <a:pPr>
              <a:spcBef>
                <a:spcPts val="800"/>
              </a:spcBef>
              <a:defRPr sz="1400"/>
            </a:pPr>
            <a:r>
              <a:t>Database-Driven: Built on SQLite with relational database design</a:t>
            </a:r>
          </a:p>
          <a:p>
            <a:pPr>
              <a:spcBef>
                <a:spcPts val="800"/>
              </a:spcBef>
              <a:defRPr sz="1400"/>
            </a:pPr>
            <a:r>
              <a:t>GUI Interface: Professional Tkinter-based user interface</a:t>
            </a:r>
          </a:p>
          <a:p>
            <a:pPr>
              <a:spcBef>
                <a:spcPts val="800"/>
              </a:spcBef>
              <a:defRPr sz="1400"/>
            </a:pPr>
            <a:r>
              <a:t>Easy to Use: Intuitive menu-driven system for staff and administrators</a:t>
            </a:r>
          </a:p>
          <a:p>
            <a:pPr>
              <a:spcBef>
                <a:spcPts val="800"/>
              </a:spcBef>
              <a:defRPr sz="1400"/>
            </a:pPr>
            <a:r>
              <a:t>Scalable: Designed for growing data and multiple departments</a:t>
            </a:r>
          </a:p>
          <a:p>
            <a:pPr>
              <a:spcBef>
                <a:spcPts val="800"/>
              </a:spcBef>
              <a:defRPr sz="1400"/>
            </a:pPr>
            <a:r>
              <a:t>Real-time Management: Live schedule updates and conflict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0"/>
              </a:spcBef>
              <a:defRPr sz="1400"/>
            </a:pPr>
            <a:r>
              <a:t>✓ 6 Core Tables with Relational Design</a:t>
            </a:r>
          </a:p>
          <a:p>
            <a:pPr>
              <a:spcBef>
                <a:spcPts val="500"/>
              </a:spcBef>
              <a:defRPr sz="1400"/>
            </a:pPr>
            <a:r>
              <a:t>✓ Automatic Primary &amp; Foreign Keys</a:t>
            </a:r>
          </a:p>
          <a:p>
            <a:pPr>
              <a:spcBef>
                <a:spcPts val="500"/>
              </a:spcBef>
              <a:defRPr sz="1400"/>
            </a:pPr>
            <a:r>
              <a:t>✓ Data Integrity &amp; Constraints</a:t>
            </a:r>
          </a:p>
          <a:p>
            <a:pPr>
              <a:spcBef>
                <a:spcPts val="500"/>
              </a:spcBef>
              <a:defRPr sz="1400"/>
            </a:pPr>
            <a:r>
              <a:t>✓ Timestamp Tracking (created_at, updated_at)</a:t>
            </a:r>
          </a:p>
          <a:p>
            <a:pPr>
              <a:spcBef>
                <a:spcPts val="500"/>
              </a:spcBef>
              <a:defRPr sz="1400"/>
            </a:pPr>
            <a:r>
              <a:t>✓ Unique Constraints for Data Validation</a:t>
            </a:r>
          </a:p>
          <a:p>
            <a:pPr>
              <a:spcBef>
                <a:spcPts val="500"/>
              </a:spcBef>
              <a:defRPr sz="1400"/>
            </a:pPr>
            <a:r>
              <a:t>✓ Indexed Fields for Fast Queries</a:t>
            </a:r>
          </a:p>
          <a:p>
            <a:pPr>
              <a:spcBef>
                <a:spcPts val="500"/>
              </a:spcBef>
              <a:defRPr sz="1400"/>
            </a:pPr>
            <a:r>
              <a:t>✓ Support for Complex JOINs</a:t>
            </a:r>
          </a:p>
          <a:p>
            <a:pPr>
              <a:spcBef>
                <a:spcPts val="500"/>
              </a:spcBef>
              <a:defRPr sz="1400"/>
            </a:pPr>
            <a:r>
              <a:t>✓ Scalable for 1000s of entries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Table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65314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Table 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Key Fields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teachers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Faculty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ID, Name, Department, Email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classrooms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Room details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ID, Name, Capacity, Building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subjects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Course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ID, Code, Name, Credits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time_slots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Available periods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ID, Start, End, Duration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Days of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ID, Name, Order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000"/>
                        <a:t>timetable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Main mapping table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All Foreign Keys, Status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Teachers Table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651760"/>
              </a:tblGrid>
              <a:tr h="65314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 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teacher_id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Primary Key (Auto-Increment)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teacher_name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Name of Teacher (NOT NULL)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Department (NOT NULL)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specialization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Area of expertise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/>
                        <a:t>contact_number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Phone number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000"/>
                        <a:t>email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Email (UNIQUE)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Classrooms Table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65176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 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classroom_id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Primary Key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class_name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Name (UNIQUE)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Max students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room_number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Room 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Building name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TimeTable Schema (Central 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5577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</a:tblGrid>
              <a:tr h="41563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 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timetable_id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INTEGER (PK, Auto-Increment)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classroom_id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INTEGER (FK)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teacher_id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INTEGER (FK)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subject_id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INTEGER (FK)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day_id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INTEGER (FK)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slot_id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INTEGER (FK)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academic_year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TEXT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semester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INTEGER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session_type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TEXT (Lecture/Lab/Practical)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000"/>
                        <a:t>status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TEXT (Active/Inactive)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500"/>
              </a:spcBef>
              <a:defRPr sz="2000" b="1">
                <a:solidFill>
                  <a:srgbClr val="4285F4"/>
                </a:solidFill>
              </a:defRPr>
            </a:pPr>
            <a:r>
              <a:t>📊 Total Teachers: 5</a:t>
            </a:r>
          </a:p>
          <a:p>
            <a:pPr>
              <a:spcBef>
                <a:spcPts val="1500"/>
              </a:spcBef>
              <a:defRPr sz="2000" b="1">
                <a:solidFill>
                  <a:srgbClr val="4285F4"/>
                </a:solidFill>
              </a:defRPr>
            </a:pPr>
            <a:r>
              <a:t>📊 Total Classrooms: 5</a:t>
            </a:r>
          </a:p>
          <a:p>
            <a:pPr>
              <a:spcBef>
                <a:spcPts val="1500"/>
              </a:spcBef>
              <a:defRPr sz="2000" b="1">
                <a:solidFill>
                  <a:srgbClr val="4285F4"/>
                </a:solidFill>
              </a:defRPr>
            </a:pPr>
            <a:r>
              <a:t>📊 Total Subjects: 5</a:t>
            </a:r>
          </a:p>
          <a:p>
            <a:pPr>
              <a:spcBef>
                <a:spcPts val="1500"/>
              </a:spcBef>
              <a:defRPr sz="2000" b="1">
                <a:solidFill>
                  <a:srgbClr val="4285F4"/>
                </a:solidFill>
              </a:defRPr>
            </a:pPr>
            <a:r>
              <a:t>📊 Total Time Slots: 8</a:t>
            </a:r>
          </a:p>
          <a:p>
            <a:pPr>
              <a:spcBef>
                <a:spcPts val="1500"/>
              </a:spcBef>
              <a:defRPr sz="2000" b="1">
                <a:solidFill>
                  <a:srgbClr val="4285F4"/>
                </a:solidFill>
              </a:defRPr>
            </a:pPr>
            <a:r>
              <a:t>📊 Total Schedule Entries: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SQL Queries - SELECT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495E"/>
                </a:solidFill>
              </a:defRPr>
            </a:pPr>
            <a:r>
              <a:t>Get All Teachers:</a:t>
            </a:r>
          </a:p>
          <a:p>
            <a:pPr>
              <a:defRPr sz="1000">
                <a:solidFill>
                  <a:srgbClr val="E74C3C"/>
                </a:solidFill>
                <a:latin typeface="Courier New"/>
              </a:defRPr>
            </a:pPr>
            <a:r>
              <a:t>SELECT * FROM teachers ORDER BY teacher_id;</a:t>
            </a:r>
          </a:p>
          <a:p>
            <a:pPr>
              <a:spcBef>
                <a:spcPts val="1000"/>
              </a:spcBef>
            </a:pPr>
          </a:p>
          <a:p>
            <a:pPr>
              <a:defRPr sz="1200" b="1">
                <a:solidFill>
                  <a:srgbClr val="34495E"/>
                </a:solidFill>
              </a:defRPr>
            </a:pPr>
            <a:r>
              <a:t>Get Time Table with Joins:</a:t>
            </a:r>
          </a:p>
          <a:p>
            <a:pPr>
              <a:defRPr sz="1000">
                <a:solidFill>
                  <a:srgbClr val="E74C3C"/>
                </a:solidFill>
                <a:latin typeface="Courier New"/>
              </a:defRPr>
            </a:pPr>
            <a:r>
              <a:t>SELECT * FROM timetable t JOIN teachers JOIN classrooms...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SQL Queries - 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495E"/>
                </a:solidFill>
              </a:defRPr>
            </a:pPr>
            <a:r>
              <a:t>INSERT New Entry:</a:t>
            </a:r>
          </a:p>
          <a:p>
            <a:pPr>
              <a:defRPr sz="1000">
                <a:latin typeface="Courier New"/>
              </a:defRPr>
            </a:pPr>
            <a:r>
              <a:t>INSERT INTO timetable (...) VALUES (...);</a:t>
            </a:r>
          </a:p>
          <a:p>
            <a:pPr>
              <a:spcBef>
                <a:spcPts val="1000"/>
              </a:spcBef>
              <a:defRPr sz="1200" b="1">
                <a:solidFill>
                  <a:srgbClr val="34495E"/>
                </a:solidFill>
              </a:defRPr>
            </a:pPr>
            <a:r>
              <a:t>UPDATE Entry:</a:t>
            </a:r>
          </a:p>
          <a:p>
            <a:pPr>
              <a:defRPr sz="1000">
                <a:latin typeface="Courier New"/>
              </a:defRPr>
            </a:pPr>
            <a:r>
              <a:t>UPDATE timetable SET teacher_id = ? WHERE id = ?;</a:t>
            </a:r>
          </a:p>
          <a:p>
            <a:pPr>
              <a:spcBef>
                <a:spcPts val="1000"/>
              </a:spcBef>
              <a:defRPr sz="1200" b="1">
                <a:solidFill>
                  <a:srgbClr val="34495E"/>
                </a:solidFill>
              </a:defRPr>
            </a:pPr>
            <a:r>
              <a:t>DELETE Entry:</a:t>
            </a:r>
          </a:p>
          <a:p>
            <a:pPr>
              <a:defRPr sz="1000">
                <a:latin typeface="Courier New"/>
              </a:defRPr>
            </a:pPr>
            <a:r>
              <a:t>DELETE FROM timetable WHERE timetable_id = ?;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GUI Features &amp;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300"/>
            </a:pPr>
            <a:r>
              <a:t>✓ Professional Tkinter Interface</a:t>
            </a:r>
          </a:p>
          <a:p>
            <a:pPr>
              <a:spcBef>
                <a:spcPts val="400"/>
              </a:spcBef>
              <a:defRPr sz="1300"/>
            </a:pPr>
            <a:r>
              <a:t>✓ Login Window with Authentication</a:t>
            </a:r>
          </a:p>
          <a:p>
            <a:pPr>
              <a:spcBef>
                <a:spcPts val="400"/>
              </a:spcBef>
              <a:defRPr sz="1300"/>
            </a:pPr>
            <a:r>
              <a:t>✓ Dashboard with Main Menu</a:t>
            </a:r>
          </a:p>
          <a:p>
            <a:pPr>
              <a:spcBef>
                <a:spcPts val="400"/>
              </a:spcBef>
              <a:defRPr sz="1300"/>
            </a:pPr>
            <a:r>
              <a:t>✓ Data Tables with Tree View</a:t>
            </a:r>
          </a:p>
          <a:p>
            <a:pPr>
              <a:spcBef>
                <a:spcPts val="400"/>
              </a:spcBef>
              <a:defRPr sz="1300"/>
            </a:pPr>
            <a:r>
              <a:t>✓ Add/Edit/Delete Operations</a:t>
            </a:r>
          </a:p>
          <a:p>
            <a:pPr>
              <a:spcBef>
                <a:spcPts val="400"/>
              </a:spcBef>
              <a:defRPr sz="1300"/>
            </a:pPr>
            <a:r>
              <a:t>✓ Search and Filter Capabilities</a:t>
            </a:r>
          </a:p>
          <a:p>
            <a:pPr>
              <a:spcBef>
                <a:spcPts val="400"/>
              </a:spcBef>
              <a:defRPr sz="1300"/>
            </a:pPr>
            <a:r>
              <a:t>✓ Color-Coded Status Display</a:t>
            </a:r>
          </a:p>
          <a:p>
            <a:pPr>
              <a:spcBef>
                <a:spcPts val="400"/>
              </a:spcBef>
              <a:defRPr sz="1300"/>
            </a:pPr>
            <a:r>
              <a:t>✓ Real-time Data Updates</a:t>
            </a:r>
          </a:p>
          <a:p>
            <a:pPr>
              <a:spcBef>
                <a:spcPts val="400"/>
              </a:spcBef>
              <a:defRPr sz="1300"/>
            </a:pPr>
            <a:r>
              <a:t>✓ Export to Text Files</a:t>
            </a:r>
          </a:p>
          <a:p>
            <a:pPr>
              <a:spcBef>
                <a:spcPts val="400"/>
              </a:spcBef>
              <a:defRPr sz="1300"/>
            </a:pPr>
            <a:r>
              <a:t>✓ User-Friendly Navigation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Advanced Query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Count Classes by Day:</a:t>
            </a:r>
          </a:p>
          <a:p>
            <a:pPr>
              <a:defRPr sz="900">
                <a:latin typeface="Courier New"/>
              </a:defRPr>
            </a:pPr>
            <a:r>
              <a:t>SELECT day_name, COUNT(*) FROM timetable GROUP BY day_id</a:t>
            </a:r>
          </a:p>
          <a:p>
            <a:pPr>
              <a:spcBef>
                <a:spcPts val="1000"/>
              </a:spcBef>
              <a:defRPr sz="1200" b="1"/>
            </a:pPr>
            <a:r>
              <a:t>Get Teacher Schedule:</a:t>
            </a:r>
          </a:p>
          <a:p>
            <a:pPr>
              <a:defRPr sz="900">
                <a:latin typeface="Courier New"/>
              </a:defRPr>
            </a:pPr>
            <a:r>
              <a:t>SELECT * FROM timetable WHERE teacher_id = ?</a:t>
            </a:r>
          </a:p>
          <a:p>
            <a:pPr>
              <a:spcBef>
                <a:spcPts val="1000"/>
              </a:spcBef>
              <a:defRPr sz="1200" b="1"/>
            </a:pPr>
            <a:r>
              <a:t>Available Slots:</a:t>
            </a:r>
          </a:p>
          <a:p>
            <a:pPr>
              <a:defRPr sz="900">
                <a:latin typeface="Courier New"/>
              </a:defRPr>
            </a:pPr>
            <a:r>
              <a:t>SELECT * FROM time_slots NOT IN (SELECT slot_id...)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Sample Teachers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10312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Teacher ID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Dr. John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Computer Science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Prof. Sarah Jones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Mathematics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Dr. Mike Williams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Physics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Ms. Emily Brown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Chemistry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Dr. David 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Biology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Sample Classrooms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371600"/>
                <a:gridCol w="137160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Class 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Capacity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Room #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Class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101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Class A2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102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Class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201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Class B2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Sample Subjects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4937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88720"/>
                <a:gridCol w="2103120"/>
                <a:gridCol w="91440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Subject 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Credits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CS101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Programming Basics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CS102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Data Structures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MTH201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Calculus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PHY101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Physics 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CHM101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Chemistry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Sample Time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37160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Slot Name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Start Time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End Time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Slot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09:00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Slot 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09:15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10:15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Slot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11:30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Slot 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11:45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12:45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Slot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14:30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0"/>
              </a:spcBef>
              <a:defRPr sz="1300"/>
            </a:pPr>
            <a:r>
              <a:t>• Automated Schedule Management</a:t>
            </a:r>
          </a:p>
          <a:p>
            <a:pPr>
              <a:spcBef>
                <a:spcPts val="500"/>
              </a:spcBef>
              <a:defRPr sz="1300"/>
            </a:pPr>
            <a:r>
              <a:t>• No Time Slot Conflicts</a:t>
            </a:r>
          </a:p>
          <a:p>
            <a:pPr>
              <a:spcBef>
                <a:spcPts val="500"/>
              </a:spcBef>
              <a:defRPr sz="1300"/>
            </a:pPr>
            <a:r>
              <a:t>• Quick Classroom/Teacher Search</a:t>
            </a:r>
          </a:p>
          <a:p>
            <a:pPr>
              <a:spcBef>
                <a:spcPts val="500"/>
              </a:spcBef>
              <a:defRPr sz="1300"/>
            </a:pPr>
            <a:r>
              <a:t>• Department-wise Organization</a:t>
            </a:r>
          </a:p>
          <a:p>
            <a:pPr>
              <a:spcBef>
                <a:spcPts val="500"/>
              </a:spcBef>
              <a:defRPr sz="1300"/>
            </a:pPr>
            <a:r>
              <a:t>• Semester/Year-based Planning</a:t>
            </a:r>
          </a:p>
          <a:p>
            <a:pPr>
              <a:spcBef>
                <a:spcPts val="500"/>
              </a:spcBef>
              <a:defRPr sz="1300"/>
            </a:pPr>
            <a:r>
              <a:t>• Session Type Support (Lecture/Lab/Practical)</a:t>
            </a:r>
          </a:p>
          <a:p>
            <a:pPr>
              <a:spcBef>
                <a:spcPts val="500"/>
              </a:spcBef>
              <a:defRPr sz="1300"/>
            </a:pPr>
            <a:r>
              <a:t>• Status Tracking (Active/Inactive)</a:t>
            </a:r>
          </a:p>
          <a:p>
            <a:pPr>
              <a:spcBef>
                <a:spcPts val="500"/>
              </a:spcBef>
              <a:defRPr sz="1300"/>
            </a:pPr>
            <a:r>
              <a:t>• Historical Data Retention</a:t>
            </a:r>
          </a:p>
          <a:p>
            <a:pPr>
              <a:spcBef>
                <a:spcPts val="500"/>
              </a:spcBef>
              <a:defRPr sz="1300"/>
            </a:pPr>
            <a:r>
              <a:t>• Export &amp; Reporting Capability</a:t>
            </a:r>
          </a:p>
          <a:p>
            <a:pPr>
              <a:spcBef>
                <a:spcPts val="500"/>
              </a:spcBef>
              <a:defRPr sz="1300"/>
            </a:pPr>
            <a:r>
              <a:t>• Easy Data Backup &amp; Recovery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285F4"/>
                </a:solidFill>
              </a:defRPr>
            </a:pPr>
            <a:r>
              <a:t>Backend:</a:t>
            </a:r>
          </a:p>
          <a:p>
            <a:pPr>
              <a:defRPr sz="1200"/>
            </a:pPr>
            <a:r>
              <a:t>  ✓ Python 3.14.0</a:t>
            </a:r>
          </a:p>
          <a:p>
            <a:pPr>
              <a:defRPr sz="1200"/>
            </a:pPr>
            <a:r>
              <a:t>  ✓ SQLite Database</a:t>
            </a:r>
          </a:p>
          <a:p>
            <a:pPr>
              <a:defRPr sz="1200"/>
            </a:pPr>
            <a:r>
              <a:t>  ✓ SQL Queries &amp; Joins</a:t>
            </a:r>
          </a:p>
          <a:p>
            <a:pPr>
              <a:spcBef>
                <a:spcPts val="1000"/>
              </a:spcBef>
              <a:defRPr sz="1400" b="1">
                <a:solidFill>
                  <a:srgbClr val="4285F4"/>
                </a:solidFill>
              </a:defRPr>
            </a:pPr>
            <a:r>
              <a:t>Frontend:</a:t>
            </a:r>
          </a:p>
          <a:p>
            <a:pPr>
              <a:defRPr sz="1200"/>
            </a:pPr>
            <a:r>
              <a:t>  ✓ Tkinter GUI Framework</a:t>
            </a:r>
          </a:p>
          <a:p>
            <a:pPr>
              <a:defRPr sz="1200"/>
            </a:pPr>
            <a:r>
              <a:t>  ✓ Tree View Widget</a:t>
            </a:r>
          </a:p>
          <a:p>
            <a:pPr>
              <a:defRPr sz="1200"/>
            </a:pPr>
            <a:r>
              <a:t>  ✓ Dialog Boxes &amp; Pop-ups</a:t>
            </a:r>
          </a:p>
          <a:p>
            <a:pPr>
              <a:spcBef>
                <a:spcPts val="1000"/>
              </a:spcBef>
              <a:defRPr sz="1400" b="1">
                <a:solidFill>
                  <a:srgbClr val="4285F4"/>
                </a:solidFill>
              </a:defRPr>
            </a:pPr>
            <a:r>
              <a:t>Tools &amp; Utilities:</a:t>
            </a:r>
          </a:p>
          <a:p>
            <a:pPr>
              <a:defRPr sz="1200"/>
            </a:pPr>
            <a:r>
              <a:t>  ✓ Batch Launcher Scripts</a:t>
            </a:r>
          </a:p>
          <a:p>
            <a:pPr>
              <a:defRPr sz="1200"/>
            </a:pPr>
            <a:r>
              <a:t>  ✓ PDF Report Generation</a:t>
            </a:r>
          </a:p>
          <a:p>
            <a:pPr>
              <a:defRPr sz="1200"/>
            </a:pPr>
            <a:r>
              <a:t>  ✓ Data Export Functions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Installation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Step 1: Install Python 3.x</a:t>
            </a:r>
          </a:p>
          <a:p>
            <a:pPr lvl="1">
              <a:defRPr sz="1100"/>
            </a:pPr>
            <a:r>
              <a:t>Download and install Python from python.org</a:t>
            </a:r>
          </a:p>
          <a:p>
            <a:pPr>
              <a:spcBef>
                <a:spcPts val="1000"/>
              </a:spcBef>
              <a:defRPr sz="1300" b="1"/>
            </a:pPr>
            <a:r>
              <a:t>Step 2: Clone/Download Project</a:t>
            </a:r>
          </a:p>
          <a:p>
            <a:pPr lvl="1">
              <a:defRPr sz="1100"/>
            </a:pPr>
            <a:r>
              <a:t>Get the project files from the repository</a:t>
            </a:r>
          </a:p>
          <a:p>
            <a:pPr>
              <a:spcBef>
                <a:spcPts val="1000"/>
              </a:spcBef>
              <a:defRPr sz="1300" b="1"/>
            </a:pPr>
            <a:r>
              <a:t>Step 3: Install Dependencies</a:t>
            </a:r>
          </a:p>
          <a:p>
            <a:pPr lvl="1">
              <a:defRPr sz="1100">
                <a:latin typeface="Courier New"/>
              </a:defRPr>
            </a:pPr>
            <a:r>
              <a:t>pip install -r requirements.txt</a:t>
            </a:r>
          </a:p>
          <a:p>
            <a:pPr>
              <a:spcBef>
                <a:spcPts val="1000"/>
              </a:spcBef>
              <a:defRPr sz="1300" b="1"/>
            </a:pPr>
            <a:r>
              <a:t>Step 4: Run Application</a:t>
            </a:r>
          </a:p>
          <a:p>
            <a:pPr lvl="1">
              <a:defRPr sz="1100">
                <a:latin typeface="Courier New"/>
              </a:defRPr>
            </a:pPr>
            <a:r>
              <a:t>python timetable_gui.py or run.bat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300"/>
            </a:pPr>
            <a:r>
              <a:t>→ School Schedule Management</a:t>
            </a:r>
          </a:p>
          <a:p>
            <a:pPr>
              <a:spcBef>
                <a:spcPts val="400"/>
              </a:spcBef>
              <a:defRPr sz="1300"/>
            </a:pPr>
            <a:r>
              <a:t>→ University Time Table Preparation</a:t>
            </a:r>
          </a:p>
          <a:p>
            <a:pPr>
              <a:spcBef>
                <a:spcPts val="400"/>
              </a:spcBef>
              <a:defRPr sz="1300"/>
            </a:pPr>
            <a:r>
              <a:t>→ College Classroom Allocation</a:t>
            </a:r>
          </a:p>
          <a:p>
            <a:pPr>
              <a:spcBef>
                <a:spcPts val="400"/>
              </a:spcBef>
              <a:defRPr sz="1300"/>
            </a:pPr>
            <a:r>
              <a:t>→ Department-wise Planning</a:t>
            </a:r>
          </a:p>
          <a:p>
            <a:pPr>
              <a:spcBef>
                <a:spcPts val="400"/>
              </a:spcBef>
              <a:defRPr sz="1300"/>
            </a:pPr>
            <a:r>
              <a:t>→ Semester Course Scheduling</a:t>
            </a:r>
          </a:p>
          <a:p>
            <a:pPr>
              <a:spcBef>
                <a:spcPts val="400"/>
              </a:spcBef>
              <a:defRPr sz="1300"/>
            </a:pPr>
            <a:r>
              <a:t>→ Lab &amp; Practical Slot Assignment</a:t>
            </a:r>
          </a:p>
          <a:p>
            <a:pPr>
              <a:spcBef>
                <a:spcPts val="400"/>
              </a:spcBef>
              <a:defRPr sz="1300"/>
            </a:pPr>
            <a:r>
              <a:t>→ Teacher Load Distribution</a:t>
            </a:r>
          </a:p>
          <a:p>
            <a:pPr>
              <a:spcBef>
                <a:spcPts val="400"/>
              </a:spcBef>
              <a:defRPr sz="1300"/>
            </a:pPr>
            <a:r>
              <a:t>→ Conflict Resolution &amp; Detection</a:t>
            </a:r>
          </a:p>
          <a:p>
            <a:pPr>
              <a:spcBef>
                <a:spcPts val="400"/>
              </a:spcBef>
              <a:defRPr sz="1300"/>
            </a:pPr>
            <a:r>
              <a:t>→ Academic Calendar Planning</a:t>
            </a:r>
          </a:p>
          <a:p>
            <a:pPr>
              <a:spcBef>
                <a:spcPts val="400"/>
              </a:spcBef>
              <a:defRPr sz="1300"/>
            </a:pPr>
            <a:r>
              <a:t>→ Resource Optimization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300"/>
            </a:pPr>
            <a:r>
              <a:t>▶ Web-based Interface (Django/Flask)</a:t>
            </a:r>
          </a:p>
          <a:p>
            <a:pPr>
              <a:spcBef>
                <a:spcPts val="400"/>
              </a:spcBef>
              <a:defRPr sz="1300"/>
            </a:pPr>
            <a:r>
              <a:t>▶ Mobile Application Support</a:t>
            </a:r>
          </a:p>
          <a:p>
            <a:pPr>
              <a:spcBef>
                <a:spcPts val="400"/>
              </a:spcBef>
              <a:defRPr sz="1300"/>
            </a:pPr>
            <a:r>
              <a:t>▶ Automated Conflict Detection</a:t>
            </a:r>
          </a:p>
          <a:p>
            <a:pPr>
              <a:spcBef>
                <a:spcPts val="400"/>
              </a:spcBef>
              <a:defRPr sz="1300"/>
            </a:pPr>
            <a:r>
              <a:t>▶ Email Notifications</a:t>
            </a:r>
          </a:p>
          <a:p>
            <a:pPr>
              <a:spcBef>
                <a:spcPts val="400"/>
              </a:spcBef>
              <a:defRPr sz="1300"/>
            </a:pPr>
            <a:r>
              <a:t>▶ Real-time Synchronization</a:t>
            </a:r>
          </a:p>
          <a:p>
            <a:pPr>
              <a:spcBef>
                <a:spcPts val="400"/>
              </a:spcBef>
              <a:defRPr sz="1300"/>
            </a:pPr>
            <a:r>
              <a:t>▶ Advanced Analytics &amp; Reporting</a:t>
            </a:r>
          </a:p>
          <a:p>
            <a:pPr>
              <a:spcBef>
                <a:spcPts val="400"/>
              </a:spcBef>
              <a:defRPr sz="1300"/>
            </a:pPr>
            <a:r>
              <a:t>▶ Multi-institution Support</a:t>
            </a:r>
          </a:p>
          <a:p>
            <a:pPr>
              <a:spcBef>
                <a:spcPts val="400"/>
              </a:spcBef>
              <a:defRPr sz="1300"/>
            </a:pPr>
            <a:r>
              <a:t>▶ AI-based Schedule Optimization</a:t>
            </a:r>
          </a:p>
          <a:p>
            <a:pPr>
              <a:spcBef>
                <a:spcPts val="400"/>
              </a:spcBef>
              <a:defRPr sz="1300"/>
            </a:pPr>
            <a:r>
              <a:t>▶ Integration with Student System</a:t>
            </a:r>
          </a:p>
          <a:p>
            <a:pPr>
              <a:spcBef>
                <a:spcPts val="400"/>
              </a:spcBef>
              <a:defRPr sz="1300"/>
            </a:pPr>
            <a:r>
              <a:t>▶ Cloud Deployment Options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0"/>
              </a:spcBef>
              <a:defRPr sz="1400"/>
            </a:pPr>
            <a:r>
              <a:t>The Time Table Management System provides a complete, scalable solution for educational institutions.</a:t>
            </a:r>
          </a:p>
          <a:p>
            <a:pPr>
              <a:spcBef>
                <a:spcPts val="1500"/>
              </a:spcBef>
              <a:defRPr sz="1400"/>
            </a:pPr>
            <a:r>
              <a:t>With its robust database design, intuitive GUI, and comprehensive query capabilities, it streamlines schedule creation and management.</a:t>
            </a:r>
          </a:p>
          <a:p>
            <a:pPr>
              <a:spcBef>
                <a:spcPts val="1500"/>
              </a:spcBef>
              <a:defRPr sz="1400"/>
            </a:pPr>
            <a:r>
              <a:t>The system is ready for immediate deployment and can be easily extended with additional features.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4285F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